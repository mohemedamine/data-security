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handoutMasterIdLst>
    <p:handoutMasterId r:id="rId19"/>
  </p:handoutMasterIdLst>
  <p:sldIdLst>
    <p:sldId id="262" r:id="rId2"/>
    <p:sldId id="525" r:id="rId3"/>
    <p:sldId id="521" r:id="rId4"/>
    <p:sldId id="522" r:id="rId5"/>
    <p:sldId id="523" r:id="rId6"/>
    <p:sldId id="524" r:id="rId7"/>
    <p:sldId id="526" r:id="rId8"/>
    <p:sldId id="527" r:id="rId9"/>
    <p:sldId id="535" r:id="rId10"/>
    <p:sldId id="528" r:id="rId11"/>
    <p:sldId id="529" r:id="rId12"/>
    <p:sldId id="530" r:id="rId13"/>
    <p:sldId id="531" r:id="rId14"/>
    <p:sldId id="532" r:id="rId15"/>
    <p:sldId id="533" r:id="rId16"/>
    <p:sldId id="534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ALDI" initials="K" lastIdx="1" clrIdx="0">
    <p:extLst>
      <p:ext uri="{19B8F6BF-5375-455C-9EA6-DF929625EA0E}">
        <p15:presenceInfo xmlns:p15="http://schemas.microsoft.com/office/powerpoint/2012/main" userId="KHALD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D1D"/>
    <a:srgbClr val="FF2D2D"/>
    <a:srgbClr val="FFFF99"/>
    <a:srgbClr val="63A537"/>
    <a:srgbClr val="9E2E22"/>
    <a:srgbClr val="B27130"/>
    <a:srgbClr val="7E4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C911D-74E2-4C6C-89E5-476DE3083B63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78CD4-475E-4393-9407-E718567EF9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5990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1A20D-7E83-441D-8B27-11290FC144DF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5A8B2-60D1-4078-9A03-D5E62F78A8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2150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 smtClean="0"/>
              <a:t>Aujourd'hui nous allons entamer le 3ème chapitre qui concerne la Protection des Systèmes d’Information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5507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smtClean="0">
                <a:solidFill>
                  <a:prstClr val="black"/>
                </a:solidFill>
              </a:rPr>
              <a:t>Une autre</a:t>
            </a:r>
            <a:r>
              <a:rPr lang="fr-FR" sz="2000" baseline="0" smtClean="0">
                <a:solidFill>
                  <a:prstClr val="black"/>
                </a:solidFill>
              </a:rPr>
              <a:t> politique de sécurité/mesure de protection technique: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b="1" smtClean="0">
                <a:solidFill>
                  <a:srgbClr val="002060"/>
                </a:solidFill>
              </a:rPr>
              <a:t>Système de Détection d‘Intrusion (IDS)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000" smtClean="0">
                <a:solidFill>
                  <a:prstClr val="black"/>
                </a:solidFill>
              </a:rPr>
              <a:t>Un dispositif/équipement</a:t>
            </a:r>
            <a:r>
              <a:rPr lang="fr-FR" sz="2000" baseline="0" smtClean="0">
                <a:solidFill>
                  <a:prstClr val="black"/>
                </a:solidFill>
              </a:rPr>
              <a:t> matériel</a:t>
            </a:r>
            <a:r>
              <a:rPr lang="fr-FR" sz="2000" smtClean="0">
                <a:solidFill>
                  <a:prstClr val="black"/>
                </a:solidFill>
              </a:rPr>
              <a:t> ou une application logicielle qui surveille un réseau ou bien</a:t>
            </a:r>
            <a:r>
              <a:rPr lang="fr-FR" sz="2000" baseline="0" smtClean="0">
                <a:solidFill>
                  <a:prstClr val="black"/>
                </a:solidFill>
              </a:rPr>
              <a:t> un ensemble de</a:t>
            </a:r>
            <a:r>
              <a:rPr lang="fr-FR" sz="2000" smtClean="0">
                <a:solidFill>
                  <a:prstClr val="black"/>
                </a:solidFill>
              </a:rPr>
              <a:t> systèmes.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000" smtClean="0">
                <a:solidFill>
                  <a:prstClr val="black"/>
                </a:solidFill>
              </a:rPr>
              <a:t>Le Dans</a:t>
            </a:r>
            <a:r>
              <a:rPr lang="fr-FR" sz="2000" baseline="0" smtClean="0">
                <a:solidFill>
                  <a:prstClr val="black"/>
                </a:solidFill>
              </a:rPr>
              <a:t> le but</a:t>
            </a:r>
            <a:r>
              <a:rPr lang="fr-FR" sz="2000" smtClean="0">
                <a:solidFill>
                  <a:prstClr val="black"/>
                </a:solidFill>
              </a:rPr>
              <a:t> de rechercher/détecter des activités malveillantes/attaques/intrus ou des violations de la politique/mesure de sécurité appliquée/existante.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000" smtClean="0">
                <a:solidFill>
                  <a:prstClr val="black"/>
                </a:solidFill>
              </a:rPr>
              <a:t>Toute activité malveillante ou violation est généralement signalée</a:t>
            </a:r>
            <a:r>
              <a:rPr lang="fr-FR" sz="2000" baseline="0" smtClean="0">
                <a:solidFill>
                  <a:prstClr val="black"/>
                </a:solidFill>
              </a:rPr>
              <a:t> (envoyer une notification)</a:t>
            </a:r>
            <a:r>
              <a:rPr lang="fr-FR" sz="2000" smtClean="0">
                <a:solidFill>
                  <a:prstClr val="black"/>
                </a:solidFill>
              </a:rPr>
              <a:t> à l’administrateur (RSSI)</a:t>
            </a:r>
            <a:r>
              <a:rPr lang="fr-FR" sz="2000" baseline="0" smtClean="0">
                <a:solidFill>
                  <a:prstClr val="black"/>
                </a:solidFill>
              </a:rPr>
              <a:t> </a:t>
            </a:r>
            <a:r>
              <a:rPr lang="fr-FR" sz="2000" smtClean="0">
                <a:solidFill>
                  <a:prstClr val="black"/>
                </a:solidFill>
              </a:rPr>
              <a:t>(générer des </a:t>
            </a:r>
            <a:r>
              <a:rPr lang="fr-FR" sz="2000" b="1" smtClean="0">
                <a:solidFill>
                  <a:prstClr val="black"/>
                </a:solidFill>
              </a:rPr>
              <a:t>alertes aux admin</a:t>
            </a:r>
            <a:r>
              <a:rPr lang="fr-FR" sz="2000" smtClean="0">
                <a:solidFill>
                  <a:prstClr val="black"/>
                </a:solidFill>
              </a:rPr>
              <a:t>)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000" smtClean="0">
                <a:solidFill>
                  <a:prstClr val="black"/>
                </a:solidFill>
              </a:rPr>
              <a:t>Dans ce cas L’administrateur (RSSI) doit rapidement réagir/intervenir afin de minimiser les dommages causés par l'incident de sécurité (scénario d’incident) ou pour bloquer l’attaque.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baseline="0" smtClean="0">
              <a:solidFill>
                <a:prstClr val="black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101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dirty="0" smtClean="0">
                <a:solidFill>
                  <a:prstClr val="black"/>
                </a:solidFill>
              </a:rPr>
              <a:t>Pour le mode de fonctionnement des IDS: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 smtClean="0">
                <a:solidFill>
                  <a:prstClr val="black"/>
                </a:solidFill>
              </a:rPr>
              <a:t>Les IDS utilisent de nombreuses méthodologies/techniques pour détecter les incidents/attaques :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r>
              <a:rPr lang="fr-FR" sz="2200" dirty="0" smtClean="0">
                <a:solidFill>
                  <a:prstClr val="black"/>
                </a:solidFill>
              </a:rPr>
              <a:t>Détection basée sur le scénario/la </a:t>
            </a:r>
            <a:r>
              <a:rPr lang="fr-FR" sz="2200" b="1" dirty="0" smtClean="0">
                <a:solidFill>
                  <a:prstClr val="black"/>
                </a:solidFill>
              </a:rPr>
              <a:t>signature</a:t>
            </a:r>
            <a:r>
              <a:rPr lang="fr-FR" sz="2200" dirty="0" smtClean="0">
                <a:solidFill>
                  <a:prstClr val="black"/>
                </a:solidFill>
              </a:rPr>
              <a:t> (en</a:t>
            </a:r>
            <a:r>
              <a:rPr lang="fr-FR" sz="2200" baseline="0" dirty="0" smtClean="0">
                <a:solidFill>
                  <a:prstClr val="black"/>
                </a:solidFill>
              </a:rPr>
              <a:t> utilisant une </a:t>
            </a:r>
            <a:r>
              <a:rPr lang="fr-FR" sz="2200" baseline="0" dirty="0" err="1" smtClean="0">
                <a:solidFill>
                  <a:prstClr val="black"/>
                </a:solidFill>
              </a:rPr>
              <a:t>bbd</a:t>
            </a:r>
            <a:r>
              <a:rPr lang="fr-FR" sz="2200" baseline="0" dirty="0" smtClean="0">
                <a:solidFill>
                  <a:prstClr val="black"/>
                </a:solidFill>
              </a:rPr>
              <a:t> de signature d’attaques/incidents connue</a:t>
            </a:r>
            <a:r>
              <a:rPr lang="fr-FR" sz="2200" dirty="0" smtClean="0">
                <a:solidFill>
                  <a:prstClr val="black"/>
                </a:solidFill>
              </a:rPr>
              <a:t>) 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r>
              <a:rPr lang="fr-FR" sz="2200" dirty="0" smtClean="0">
                <a:solidFill>
                  <a:prstClr val="black"/>
                </a:solidFill>
              </a:rPr>
              <a:t>Détection basée sur l’anomalie/</a:t>
            </a:r>
            <a:r>
              <a:rPr lang="fr-FR" sz="2200" b="1" dirty="0" smtClean="0">
                <a:solidFill>
                  <a:prstClr val="black"/>
                </a:solidFill>
              </a:rPr>
              <a:t>comportement</a:t>
            </a:r>
            <a:r>
              <a:rPr lang="fr-FR" sz="2200" dirty="0" smtClean="0">
                <a:solidFill>
                  <a:prstClr val="black"/>
                </a:solidFill>
              </a:rPr>
              <a:t> (</a:t>
            </a:r>
            <a:r>
              <a:rPr lang="fr-FR" sz="2200" b="1" dirty="0" smtClean="0">
                <a:solidFill>
                  <a:prstClr val="black"/>
                </a:solidFill>
              </a:rPr>
              <a:t>profil</a:t>
            </a:r>
            <a:r>
              <a:rPr lang="fr-FR" sz="2200" dirty="0" smtClean="0">
                <a:solidFill>
                  <a:prstClr val="black"/>
                </a:solidFill>
              </a:rPr>
              <a:t>) </a:t>
            </a:r>
            <a:r>
              <a:rPr lang="fr-FR" sz="2200" dirty="0" err="1" smtClean="0">
                <a:solidFill>
                  <a:prstClr val="black"/>
                </a:solidFill>
              </a:rPr>
              <a:t>cad</a:t>
            </a:r>
            <a:r>
              <a:rPr lang="fr-FR" sz="2200" dirty="0" smtClean="0">
                <a:solidFill>
                  <a:prstClr val="black"/>
                </a:solidFill>
              </a:rPr>
              <a:t> si le système s’éloigne de sont profit/sa mission, l’IDS réagit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213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200" smtClean="0">
                <a:solidFill>
                  <a:prstClr val="black"/>
                </a:solidFill>
              </a:rPr>
              <a:t>Pour</a:t>
            </a:r>
            <a:r>
              <a:rPr lang="fr-FR" sz="2200" baseline="0" smtClean="0">
                <a:solidFill>
                  <a:prstClr val="black"/>
                </a:solidFill>
              </a:rPr>
              <a:t> les types d’IDS en trouve: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smtClean="0">
                <a:solidFill>
                  <a:srgbClr val="0070C0"/>
                </a:solidFill>
              </a:rPr>
              <a:t>N-IDS (Network - Based IDS)</a:t>
            </a:r>
            <a:r>
              <a:rPr lang="fr-FR" sz="2200" smtClean="0">
                <a:solidFill>
                  <a:prstClr val="black"/>
                </a:solidFill>
              </a:rPr>
              <a:t> : assure la sécurité au niveau du réseau.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smtClean="0">
                <a:solidFill>
                  <a:srgbClr val="0070C0"/>
                </a:solidFill>
              </a:rPr>
              <a:t>H-IDS (Host - Based IDS)</a:t>
            </a:r>
            <a:r>
              <a:rPr lang="fr-FR" sz="2200" smtClean="0">
                <a:solidFill>
                  <a:prstClr val="black"/>
                </a:solidFill>
              </a:rPr>
              <a:t> : assure la sécurité au niveau des hôtes (terminaux).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smtClean="0">
                <a:solidFill>
                  <a:srgbClr val="0070C0"/>
                </a:solidFill>
              </a:rPr>
              <a:t>IDS Hybrides</a:t>
            </a:r>
            <a:r>
              <a:rPr lang="fr-FR" sz="2200" smtClean="0">
                <a:solidFill>
                  <a:prstClr val="black"/>
                </a:solidFill>
              </a:rPr>
              <a:t> : assure la surveillance du réseau et de terminaux (combinaison entre</a:t>
            </a:r>
            <a:r>
              <a:rPr lang="fr-FR" sz="2200" baseline="0" smtClean="0">
                <a:solidFill>
                  <a:prstClr val="black"/>
                </a:solidFill>
              </a:rPr>
              <a:t> : </a:t>
            </a:r>
            <a:r>
              <a:rPr lang="fr-FR" sz="2200" smtClean="0">
                <a:solidFill>
                  <a:prstClr val="black"/>
                </a:solidFill>
              </a:rPr>
              <a:t>N-IDS et H-IDS)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endParaRPr lang="fr-FR" sz="2200" smtClean="0">
              <a:solidFill>
                <a:prstClr val="black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200" baseline="0" smtClean="0">
              <a:solidFill>
                <a:prstClr val="black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2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122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smtClean="0">
                <a:solidFill>
                  <a:prstClr val="black"/>
                </a:solidFill>
              </a:rPr>
              <a:t>Un</a:t>
            </a:r>
            <a:r>
              <a:rPr lang="fr-FR" sz="2000" baseline="0" smtClean="0">
                <a:solidFill>
                  <a:prstClr val="black"/>
                </a:solidFill>
              </a:rPr>
              <a:t> cas particulier des IDS: IPS</a:t>
            </a:r>
          </a:p>
          <a:p>
            <a:pPr lvl="0" algn="just" fontAlgn="base">
              <a:spcBef>
                <a:spcPts val="15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sz="2000" b="0" smtClean="0"/>
              <a:t>C’est un IDS actif</a:t>
            </a:r>
            <a:r>
              <a:rPr lang="fr-FR" sz="2000" b="0" baseline="0" smtClean="0"/>
              <a:t> </a:t>
            </a:r>
            <a:r>
              <a:rPr lang="fr-FR" sz="2000" b="0" smtClean="0"/>
              <a:t>qui possède toutes les fonctionnalités d'un IDS et peut également tenter/réagir/intenvenir d'arrêter/bloquer des incidents/attaques éventuels (cad bloquer le flux réseau concerné).</a:t>
            </a:r>
          </a:p>
          <a:p>
            <a:pPr lvl="0" algn="just" fontAlgn="base">
              <a:spcBef>
                <a:spcPts val="15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sz="2000" b="0" smtClean="0"/>
              <a:t>Les IPS analysent également les paquets, mais ils peuvent aussi les bloquer en fonction du type d’attaques qu’ils détectent, ce qui contribue à stopper ces attaques.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719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310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529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113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dirty="0" err="1" smtClean="0">
                <a:solidFill>
                  <a:prstClr val="black"/>
                </a:solidFill>
              </a:rPr>
              <a:t>Benign</a:t>
            </a:r>
            <a:r>
              <a:rPr lang="fr-FR" sz="2000" baseline="0" dirty="0" smtClean="0">
                <a:solidFill>
                  <a:prstClr val="black"/>
                </a:solidFill>
              </a:rPr>
              <a:t> = bénin = normal</a:t>
            </a:r>
          </a:p>
          <a:p>
            <a:r>
              <a:rPr lang="fr-FR" sz="2000" baseline="0" dirty="0" smtClean="0">
                <a:solidFill>
                  <a:prstClr val="black"/>
                </a:solidFill>
              </a:rPr>
              <a:t>Attack = </a:t>
            </a:r>
            <a:r>
              <a:rPr lang="fr-F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malicious</a:t>
            </a:r>
            <a:r>
              <a:rPr lang="fr-F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malicieux </a:t>
            </a: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926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33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852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226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355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438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dirty="0" smtClean="0">
                <a:solidFill>
                  <a:prstClr val="black"/>
                </a:solidFill>
              </a:rPr>
              <a:t>Protocol</a:t>
            </a:r>
            <a:r>
              <a:rPr lang="fr-FR" sz="2000" baseline="0" dirty="0" smtClean="0">
                <a:solidFill>
                  <a:prstClr val="black"/>
                </a:solidFill>
              </a:rPr>
              <a:t> Type : 3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baseline="0" dirty="0" smtClean="0">
                <a:solidFill>
                  <a:prstClr val="black"/>
                </a:solidFill>
              </a:rPr>
              <a:t>Service: 70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fr-FR" sz="2000" baseline="0" dirty="0" smtClean="0">
                <a:solidFill>
                  <a:prstClr val="black"/>
                </a:solidFill>
              </a:rPr>
              <a:t>Flag: 11</a:t>
            </a:r>
            <a:endParaRPr lang="fr-FR" sz="2000" dirty="0" smtClean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5A8B2-60D1-4078-9A03-D5E62F78A87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51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2A13-B3DC-4A8A-9F2C-6D7ADEE656CE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15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81F65-E65A-4D3E-9C1A-BB82C0FFA70B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41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995F-D541-4FE7-9AE1-3AC2271ACF2A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77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7132-759C-466D-80BA-0C6C12B78CF2}" type="datetime1">
              <a:rPr lang="fr-FR" smtClean="0"/>
              <a:t>17/04/2025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67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5BD8-E2FC-474B-BBA5-AF65BB4811CE}" type="datetime1">
              <a:rPr lang="fr-FR" smtClean="0"/>
              <a:t>17/04/2025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5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0957D-B449-4AD0-8DA4-DF3A7CEB5EA7}" type="datetime1">
              <a:rPr lang="fr-FR" smtClean="0"/>
              <a:t>17/04/2025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58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0231-DEDF-44A9-B721-3EE23AB38D8F}" type="datetime1">
              <a:rPr lang="fr-FR" smtClean="0"/>
              <a:t>17/04/2025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70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00D9CB-B0C6-4264-B6BF-18466C13255E}" type="datetime1">
              <a:rPr lang="fr-FR" smtClean="0"/>
              <a:t>17/04/2025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922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771-76F6-4275-90F4-6D5549FB6BE0}" type="datetime1">
              <a:rPr lang="fr-FR" smtClean="0"/>
              <a:t>17/04/2025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2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2A7F-D854-450D-9142-9C997F63EED1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44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6E70-EC73-4435-AE44-D8F0C5F0E69E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73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131FA3-65A3-4383-9F2C-96330CFC099B}" type="datetime1">
              <a:rPr lang="fr-FR" smtClean="0"/>
              <a:t>17/04/2025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E617F4D-DE86-4DB3-A8A1-FC7B0FF7F8A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41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oi.org/10.1002/ett.415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b.ca/cic/datasets/nsl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59436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Détection des Intrusions à base de Machine Learning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59" y="271454"/>
            <a:ext cx="2125563" cy="1701170"/>
          </a:xfrm>
          <a:prstGeom prst="rect">
            <a:avLst/>
          </a:prstGeom>
        </p:spPr>
      </p:pic>
      <p:sp>
        <p:nvSpPr>
          <p:cNvPr id="7" name="Espace réservé du contenu 4"/>
          <p:cNvSpPr txBox="1">
            <a:spLocks noChangeArrowheads="1"/>
          </p:cNvSpPr>
          <p:nvPr/>
        </p:nvSpPr>
        <p:spPr bwMode="auto">
          <a:xfrm>
            <a:off x="3967846" y="3993440"/>
            <a:ext cx="42148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fr-FR" altLang="fr-FR" sz="2000" b="1" dirty="0"/>
              <a:t>Dr. KHALDI Miloud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11" y="4355679"/>
            <a:ext cx="2590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</a:pPr>
            <a:r>
              <a:rPr lang="fr-FR" altLang="fr-FR" dirty="0" smtClean="0">
                <a:latin typeface="Consolas" panose="020B0609020204030204" pitchFamily="49" charset="0"/>
              </a:rPr>
              <a:t>m.khaldi@esi-sba.dz</a:t>
            </a:r>
            <a:endParaRPr lang="fr-FR" altLang="fr-FR" dirty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1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800665" y="2219569"/>
            <a:ext cx="82858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0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-TP-</a:t>
            </a:r>
          </a:p>
          <a:p>
            <a:pPr algn="ctr"/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40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écurité des </a:t>
            </a:r>
            <a:r>
              <a:rPr lang="fr-FR" sz="4000" b="1" dirty="0" smtClean="0">
                <a:solidFill>
                  <a:srgbClr val="ED7D31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fr-FR" sz="40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onnées</a:t>
            </a:r>
            <a:endParaRPr lang="fr-FR" sz="4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13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Mots-clés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7F4D-DE86-4DB3-A8A1-FC7B0FF7F8A2}" type="slidenum">
              <a:rPr lang="fr-FR" smtClean="0"/>
              <a:t>2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413165" y="2648675"/>
            <a:ext cx="94765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anomaly detection, intrusion detection system (IDS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anomaly intrusion detection system (AIDS),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network-based IDS (NIDS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 (ML), 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cyber-security</a:t>
            </a:r>
            <a:endParaRPr lang="fr-FR" sz="3200" dirty="0">
              <a:solidFill>
                <a:srgbClr val="FF000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71957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111" y="162819"/>
            <a:ext cx="63473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3600" b="1" dirty="0">
                <a:latin typeface="Calibri Light" panose="020F0302020204030204" pitchFamily="34" charset="0"/>
              </a:rPr>
              <a:t>Systèmes de détection d’intrusion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3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079" y="1656456"/>
            <a:ext cx="10962611" cy="2802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prstClr val="black"/>
                </a:solidFill>
              </a:rPr>
              <a:t>U</a:t>
            </a:r>
            <a:r>
              <a:rPr lang="fr-FR" sz="2200" dirty="0" smtClean="0">
                <a:solidFill>
                  <a:prstClr val="black"/>
                </a:solidFill>
              </a:rPr>
              <a:t>n </a:t>
            </a:r>
            <a:r>
              <a:rPr lang="fr-FR" sz="2200" b="1" dirty="0">
                <a:solidFill>
                  <a:prstClr val="black"/>
                </a:solidFill>
              </a:rPr>
              <a:t>dispositif</a:t>
            </a:r>
            <a:r>
              <a:rPr lang="fr-FR" sz="2200" dirty="0">
                <a:solidFill>
                  <a:prstClr val="black"/>
                </a:solidFill>
              </a:rPr>
              <a:t> ou une </a:t>
            </a:r>
            <a:r>
              <a:rPr lang="fr-FR" sz="2200" b="1" dirty="0">
                <a:solidFill>
                  <a:prstClr val="black"/>
                </a:solidFill>
              </a:rPr>
              <a:t>application logicielle</a:t>
            </a:r>
            <a:r>
              <a:rPr lang="fr-FR" sz="2200" dirty="0">
                <a:solidFill>
                  <a:prstClr val="black"/>
                </a:solidFill>
              </a:rPr>
              <a:t> qui surveille </a:t>
            </a:r>
            <a:r>
              <a:rPr lang="fr-FR" sz="2200" dirty="0" smtClean="0">
                <a:solidFill>
                  <a:prstClr val="black"/>
                </a:solidFill>
              </a:rPr>
              <a:t>le </a:t>
            </a:r>
            <a:r>
              <a:rPr lang="fr-FR" sz="2200" dirty="0">
                <a:solidFill>
                  <a:prstClr val="black"/>
                </a:solidFill>
              </a:rPr>
              <a:t>réseau ou </a:t>
            </a:r>
            <a:r>
              <a:rPr lang="fr-FR" sz="2200" dirty="0" smtClean="0">
                <a:solidFill>
                  <a:prstClr val="black"/>
                </a:solidFill>
              </a:rPr>
              <a:t>le système.</a:t>
            </a:r>
            <a:endParaRPr lang="fr-FR" sz="2200" dirty="0">
              <a:solidFill>
                <a:prstClr val="black"/>
              </a:solidFill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prstClr val="black"/>
                </a:solidFill>
              </a:rPr>
              <a:t>Le but est de rechercher des activités malveillantes ou des violations de la politique de </a:t>
            </a:r>
            <a:r>
              <a:rPr lang="fr-FR" sz="2200" dirty="0" smtClean="0">
                <a:solidFill>
                  <a:prstClr val="black"/>
                </a:solidFill>
              </a:rPr>
              <a:t>sécurité appliquée.</a:t>
            </a:r>
            <a:endParaRPr lang="fr-FR" sz="2200" dirty="0">
              <a:solidFill>
                <a:prstClr val="black"/>
              </a:solidFill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prstClr val="black"/>
                </a:solidFill>
              </a:rPr>
              <a:t>Toute activité malveillante ou violation est généralement signalée à </a:t>
            </a:r>
            <a:r>
              <a:rPr lang="fr-FR" sz="2200" dirty="0" smtClean="0">
                <a:solidFill>
                  <a:prstClr val="black"/>
                </a:solidFill>
              </a:rPr>
              <a:t>l’administrateur (générer des </a:t>
            </a:r>
            <a:r>
              <a:rPr lang="fr-FR" sz="2200" b="1" dirty="0" smtClean="0">
                <a:solidFill>
                  <a:prstClr val="black"/>
                </a:solidFill>
              </a:rPr>
              <a:t>alertes</a:t>
            </a:r>
            <a:r>
              <a:rPr lang="fr-FR" sz="2200" dirty="0" smtClean="0">
                <a:solidFill>
                  <a:prstClr val="black"/>
                </a:solidFill>
              </a:rPr>
              <a:t>).</a:t>
            </a:r>
            <a:endParaRPr lang="fr-FR" sz="2200" dirty="0">
              <a:solidFill>
                <a:prstClr val="black"/>
              </a:solidFill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prstClr val="black"/>
                </a:solidFill>
              </a:rPr>
              <a:t>L’administrateur doit rapidement réagir afin de minimiser les dommages causés par l'incident.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307" y="744439"/>
            <a:ext cx="8789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srgbClr val="002060"/>
                </a:solidFill>
              </a:rPr>
              <a:t>Système de Détection d‘Intrusion (IDS: Intrusion </a:t>
            </a:r>
            <a:r>
              <a:rPr lang="fr-FR" sz="2400" b="1" dirty="0" err="1">
                <a:solidFill>
                  <a:srgbClr val="002060"/>
                </a:solidFill>
              </a:rPr>
              <a:t>Detection</a:t>
            </a:r>
            <a:r>
              <a:rPr lang="fr-FR" sz="2400" b="1" dirty="0">
                <a:solidFill>
                  <a:srgbClr val="002060"/>
                </a:solidFill>
              </a:rPr>
              <a:t> System) </a:t>
            </a:r>
          </a:p>
        </p:txBody>
      </p:sp>
    </p:spTree>
    <p:extLst>
      <p:ext uri="{BB962C8B-B14F-4D97-AF65-F5344CB8AC3E}">
        <p14:creationId xmlns:p14="http://schemas.microsoft.com/office/powerpoint/2010/main" val="219161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111" y="162819"/>
            <a:ext cx="63473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3600" b="1" dirty="0">
                <a:latin typeface="Calibri Light" panose="020F0302020204030204" pitchFamily="34" charset="0"/>
              </a:rPr>
              <a:t>Systèmes de détection d’intrusion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4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2079" y="1656456"/>
            <a:ext cx="10962611" cy="3796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</a:pPr>
            <a:r>
              <a:rPr lang="fr-FR" sz="2200" b="1" dirty="0" smtClean="0">
                <a:solidFill>
                  <a:srgbClr val="00B050"/>
                </a:solidFill>
              </a:rPr>
              <a:t>Types d’IDS / Mode de fonctionnement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 smtClean="0">
                <a:solidFill>
                  <a:prstClr val="black"/>
                </a:solidFill>
              </a:rPr>
              <a:t>Les </a:t>
            </a:r>
            <a:r>
              <a:rPr lang="fr-FR" sz="2200" b="1" dirty="0">
                <a:solidFill>
                  <a:prstClr val="black"/>
                </a:solidFill>
              </a:rPr>
              <a:t>IDS</a:t>
            </a:r>
            <a:r>
              <a:rPr lang="fr-FR" sz="2200" dirty="0">
                <a:solidFill>
                  <a:prstClr val="black"/>
                </a:solidFill>
              </a:rPr>
              <a:t> utilisent de nombreuses méthodologies pour détecter les incidents :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r>
              <a:rPr lang="fr-FR" sz="2200" b="1" dirty="0" smtClean="0">
                <a:solidFill>
                  <a:prstClr val="black"/>
                </a:solidFill>
              </a:rPr>
              <a:t>IDS basé </a:t>
            </a:r>
            <a:r>
              <a:rPr lang="fr-FR" sz="2200" b="1" dirty="0">
                <a:solidFill>
                  <a:prstClr val="black"/>
                </a:solidFill>
              </a:rPr>
              <a:t>sur la signature (Signature </a:t>
            </a:r>
            <a:r>
              <a:rPr lang="fr-FR" sz="2200" b="1" dirty="0" err="1">
                <a:solidFill>
                  <a:prstClr val="black"/>
                </a:solidFill>
              </a:rPr>
              <a:t>Based</a:t>
            </a:r>
            <a:r>
              <a:rPr lang="fr-FR" sz="2200" b="1" dirty="0">
                <a:solidFill>
                  <a:prstClr val="black"/>
                </a:solidFill>
              </a:rPr>
              <a:t> IDS</a:t>
            </a:r>
            <a:r>
              <a:rPr lang="fr-FR" sz="2200" b="1" dirty="0" smtClean="0">
                <a:solidFill>
                  <a:prstClr val="black"/>
                </a:solidFill>
              </a:rPr>
              <a:t>) </a:t>
            </a:r>
            <a:r>
              <a:rPr lang="fr-FR" sz="2200" dirty="0" smtClean="0">
                <a:solidFill>
                  <a:prstClr val="black"/>
                </a:solidFill>
              </a:rPr>
              <a:t>=&gt;  </a:t>
            </a:r>
            <a:r>
              <a:rPr lang="fr-FR" sz="2200" dirty="0">
                <a:solidFill>
                  <a:prstClr val="black"/>
                </a:solidFill>
              </a:rPr>
              <a:t>Détection basée sur la signature (une menace connue) 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prstClr val="black"/>
                </a:solidFill>
              </a:rPr>
              <a:t>IDS basé sur l’anomalie (</a:t>
            </a:r>
            <a:r>
              <a:rPr lang="fr-FR" sz="2200" b="1" dirty="0" err="1">
                <a:solidFill>
                  <a:prstClr val="black"/>
                </a:solidFill>
              </a:rPr>
              <a:t>Anomaly</a:t>
            </a:r>
            <a:r>
              <a:rPr lang="fr-FR" sz="2200" b="1" dirty="0">
                <a:solidFill>
                  <a:prstClr val="black"/>
                </a:solidFill>
              </a:rPr>
              <a:t> </a:t>
            </a:r>
            <a:r>
              <a:rPr lang="fr-FR" sz="2200" b="1" dirty="0" err="1">
                <a:solidFill>
                  <a:prstClr val="black"/>
                </a:solidFill>
              </a:rPr>
              <a:t>Based</a:t>
            </a:r>
            <a:r>
              <a:rPr lang="fr-FR" sz="2200" b="1" dirty="0">
                <a:solidFill>
                  <a:prstClr val="black"/>
                </a:solidFill>
              </a:rPr>
              <a:t> </a:t>
            </a:r>
            <a:r>
              <a:rPr lang="fr-FR" sz="2200" b="1" dirty="0" smtClean="0">
                <a:solidFill>
                  <a:prstClr val="black"/>
                </a:solidFill>
              </a:rPr>
              <a:t>IDS) </a:t>
            </a:r>
            <a:r>
              <a:rPr lang="fr-FR" sz="2200" dirty="0">
                <a:solidFill>
                  <a:prstClr val="black"/>
                </a:solidFill>
              </a:rPr>
              <a:t>=&gt; Détection basée sur </a:t>
            </a:r>
            <a:r>
              <a:rPr lang="fr-FR" sz="2200" dirty="0" smtClean="0">
                <a:solidFill>
                  <a:prstClr val="black"/>
                </a:solidFill>
              </a:rPr>
              <a:t>l’anomalie/</a:t>
            </a:r>
            <a:r>
              <a:rPr lang="fr-FR" sz="2200" b="1" dirty="0" smtClean="0">
                <a:solidFill>
                  <a:prstClr val="black"/>
                </a:solidFill>
              </a:rPr>
              <a:t>comportement</a:t>
            </a:r>
            <a:r>
              <a:rPr lang="fr-FR" sz="2200" dirty="0" smtClean="0">
                <a:solidFill>
                  <a:prstClr val="black"/>
                </a:solidFill>
              </a:rPr>
              <a:t> </a:t>
            </a:r>
            <a:r>
              <a:rPr lang="fr-FR" sz="2200" dirty="0">
                <a:solidFill>
                  <a:prstClr val="black"/>
                </a:solidFill>
              </a:rPr>
              <a:t>(</a:t>
            </a:r>
            <a:r>
              <a:rPr lang="fr-FR" sz="2200" b="1" dirty="0">
                <a:solidFill>
                  <a:prstClr val="black"/>
                </a:solidFill>
              </a:rPr>
              <a:t>profil</a:t>
            </a:r>
            <a:r>
              <a:rPr lang="fr-FR" sz="2200" dirty="0" smtClean="0">
                <a:solidFill>
                  <a:prstClr val="black"/>
                </a:solidFill>
              </a:rPr>
              <a:t>)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prstClr val="black"/>
                </a:solidFill>
              </a:rPr>
              <a:t>IDS basé sur </a:t>
            </a:r>
            <a:r>
              <a:rPr lang="fr-FR" sz="2200" b="1" dirty="0" smtClean="0">
                <a:solidFill>
                  <a:prstClr val="black"/>
                </a:solidFill>
              </a:rPr>
              <a:t>la </a:t>
            </a:r>
            <a:r>
              <a:rPr lang="fr-FR" sz="2200" b="1" dirty="0">
                <a:solidFill>
                  <a:prstClr val="black"/>
                </a:solidFill>
              </a:rPr>
              <a:t>spécification (</a:t>
            </a:r>
            <a:r>
              <a:rPr lang="fr-FR" sz="2200" b="1" dirty="0" err="1">
                <a:solidFill>
                  <a:prstClr val="black"/>
                </a:solidFill>
              </a:rPr>
              <a:t>Specification</a:t>
            </a:r>
            <a:r>
              <a:rPr lang="fr-FR" sz="2200" b="1" dirty="0">
                <a:solidFill>
                  <a:prstClr val="black"/>
                </a:solidFill>
              </a:rPr>
              <a:t> </a:t>
            </a:r>
            <a:r>
              <a:rPr lang="fr-FR" sz="2200" b="1" dirty="0" err="1">
                <a:solidFill>
                  <a:prstClr val="black"/>
                </a:solidFill>
              </a:rPr>
              <a:t>Based</a:t>
            </a:r>
            <a:r>
              <a:rPr lang="fr-FR" sz="2200" b="1" dirty="0">
                <a:solidFill>
                  <a:prstClr val="black"/>
                </a:solidFill>
              </a:rPr>
              <a:t> </a:t>
            </a:r>
            <a:r>
              <a:rPr lang="fr-FR" sz="2200" b="1" dirty="0" smtClean="0">
                <a:solidFill>
                  <a:prstClr val="black"/>
                </a:solidFill>
              </a:rPr>
              <a:t>IDS) </a:t>
            </a:r>
            <a:r>
              <a:rPr lang="fr-FR" sz="2200" dirty="0" smtClean="0">
                <a:solidFill>
                  <a:prstClr val="black"/>
                </a:solidFill>
              </a:rPr>
              <a:t>=&gt;  Combine les deux techniques précédentes.</a:t>
            </a:r>
          </a:p>
          <a:p>
            <a:pPr marL="557213" lvl="1" indent="-2880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ü"/>
            </a:pPr>
            <a:endParaRPr lang="fr-FR" sz="2200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307" y="744439"/>
            <a:ext cx="8789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srgbClr val="002060"/>
                </a:solidFill>
              </a:rPr>
              <a:t>Système de Détection d‘Intrusion (IDS: Intrusion </a:t>
            </a:r>
            <a:r>
              <a:rPr lang="fr-FR" sz="2400" b="1" dirty="0" err="1">
                <a:solidFill>
                  <a:srgbClr val="002060"/>
                </a:solidFill>
              </a:rPr>
              <a:t>Detection</a:t>
            </a:r>
            <a:r>
              <a:rPr lang="fr-FR" sz="2400" b="1" dirty="0">
                <a:solidFill>
                  <a:srgbClr val="002060"/>
                </a:solidFill>
              </a:rPr>
              <a:t> System) 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0099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111" y="162819"/>
            <a:ext cx="63473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3600" b="1" dirty="0">
                <a:latin typeface="Calibri Light" panose="020F0302020204030204" pitchFamily="34" charset="0"/>
              </a:rPr>
              <a:t>Systèmes de détection d’intrusion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5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2079" y="1656456"/>
            <a:ext cx="10962611" cy="188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</a:pPr>
            <a:r>
              <a:rPr lang="fr-FR" sz="2200" b="1" dirty="0" smtClean="0">
                <a:solidFill>
                  <a:srgbClr val="00B050"/>
                </a:solidFill>
              </a:rPr>
              <a:t>Types d’IDS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dirty="0">
                <a:solidFill>
                  <a:srgbClr val="0070C0"/>
                </a:solidFill>
              </a:rPr>
              <a:t>N-IDS (Network - </a:t>
            </a:r>
            <a:r>
              <a:rPr lang="fr-FR" sz="2200" b="1" dirty="0" err="1">
                <a:solidFill>
                  <a:srgbClr val="0070C0"/>
                </a:solidFill>
              </a:rPr>
              <a:t>Based</a:t>
            </a:r>
            <a:r>
              <a:rPr lang="fr-FR" sz="2200" b="1" dirty="0">
                <a:solidFill>
                  <a:srgbClr val="0070C0"/>
                </a:solidFill>
              </a:rPr>
              <a:t> IDS)</a:t>
            </a:r>
            <a:r>
              <a:rPr lang="fr-FR" sz="2200" dirty="0">
                <a:solidFill>
                  <a:prstClr val="black"/>
                </a:solidFill>
              </a:rPr>
              <a:t> : assure la </a:t>
            </a:r>
            <a:r>
              <a:rPr lang="fr-FR" sz="2200" b="1" dirty="0">
                <a:solidFill>
                  <a:prstClr val="black"/>
                </a:solidFill>
              </a:rPr>
              <a:t>sécurité</a:t>
            </a:r>
            <a:r>
              <a:rPr lang="fr-FR" sz="2200" dirty="0">
                <a:solidFill>
                  <a:prstClr val="black"/>
                </a:solidFill>
              </a:rPr>
              <a:t> au niveau du </a:t>
            </a:r>
            <a:r>
              <a:rPr lang="fr-FR" sz="2200" b="1" dirty="0" smtClean="0">
                <a:solidFill>
                  <a:srgbClr val="FF0000"/>
                </a:solidFill>
              </a:rPr>
              <a:t>réseau</a:t>
            </a:r>
            <a:r>
              <a:rPr lang="fr-FR" sz="2200" dirty="0" smtClean="0">
                <a:solidFill>
                  <a:prstClr val="black"/>
                </a:solidFill>
              </a:rPr>
              <a:t>,</a:t>
            </a:r>
            <a:endParaRPr lang="fr-FR" sz="2200" dirty="0">
              <a:solidFill>
                <a:prstClr val="black"/>
              </a:solidFill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dirty="0">
                <a:solidFill>
                  <a:srgbClr val="0070C0"/>
                </a:solidFill>
              </a:rPr>
              <a:t>H-IDS (Host - </a:t>
            </a:r>
            <a:r>
              <a:rPr lang="fr-FR" sz="2200" b="1" dirty="0" err="1">
                <a:solidFill>
                  <a:srgbClr val="0070C0"/>
                </a:solidFill>
              </a:rPr>
              <a:t>Based</a:t>
            </a:r>
            <a:r>
              <a:rPr lang="fr-FR" sz="2200" b="1" dirty="0">
                <a:solidFill>
                  <a:srgbClr val="0070C0"/>
                </a:solidFill>
              </a:rPr>
              <a:t> IDS)</a:t>
            </a:r>
            <a:r>
              <a:rPr lang="fr-FR" sz="2200" dirty="0">
                <a:solidFill>
                  <a:prstClr val="black"/>
                </a:solidFill>
              </a:rPr>
              <a:t> : assure la </a:t>
            </a:r>
            <a:r>
              <a:rPr lang="fr-FR" sz="2200" b="1" dirty="0">
                <a:solidFill>
                  <a:prstClr val="black"/>
                </a:solidFill>
              </a:rPr>
              <a:t>sécurité</a:t>
            </a:r>
            <a:r>
              <a:rPr lang="fr-FR" sz="2200" dirty="0">
                <a:solidFill>
                  <a:prstClr val="black"/>
                </a:solidFill>
              </a:rPr>
              <a:t> au niveau des </a:t>
            </a:r>
            <a:r>
              <a:rPr lang="fr-FR" sz="2200" b="1" dirty="0">
                <a:solidFill>
                  <a:srgbClr val="FF0000"/>
                </a:solidFill>
              </a:rPr>
              <a:t>hôtes</a:t>
            </a:r>
            <a:r>
              <a:rPr lang="fr-FR" sz="2200" dirty="0">
                <a:solidFill>
                  <a:prstClr val="black"/>
                </a:solidFill>
              </a:rPr>
              <a:t> (terminaux</a:t>
            </a:r>
            <a:r>
              <a:rPr lang="fr-FR" sz="2200" dirty="0" smtClean="0">
                <a:solidFill>
                  <a:prstClr val="black"/>
                </a:solidFill>
              </a:rPr>
              <a:t>),</a:t>
            </a:r>
            <a:endParaRPr lang="fr-FR" sz="2200" dirty="0">
              <a:solidFill>
                <a:prstClr val="black"/>
              </a:solidFill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dirty="0">
                <a:solidFill>
                  <a:srgbClr val="0070C0"/>
                </a:solidFill>
              </a:rPr>
              <a:t>IDS Hybrides</a:t>
            </a:r>
            <a:r>
              <a:rPr lang="fr-FR" sz="2200" dirty="0">
                <a:solidFill>
                  <a:prstClr val="black"/>
                </a:solidFill>
              </a:rPr>
              <a:t> : assure la surveillance du </a:t>
            </a:r>
            <a:r>
              <a:rPr lang="fr-FR" sz="2200" b="1" dirty="0">
                <a:solidFill>
                  <a:srgbClr val="FF0000"/>
                </a:solidFill>
              </a:rPr>
              <a:t>réseau</a:t>
            </a:r>
            <a:r>
              <a:rPr lang="fr-FR" sz="2200" dirty="0">
                <a:solidFill>
                  <a:prstClr val="black"/>
                </a:solidFill>
              </a:rPr>
              <a:t> et de </a:t>
            </a:r>
            <a:r>
              <a:rPr lang="fr-FR" sz="2200" b="1" dirty="0">
                <a:solidFill>
                  <a:srgbClr val="FF0000"/>
                </a:solidFill>
              </a:rPr>
              <a:t>hôtes</a:t>
            </a:r>
            <a:r>
              <a:rPr lang="fr-FR" sz="2200" dirty="0" smtClean="0">
                <a:solidFill>
                  <a:prstClr val="black"/>
                </a:solidFill>
              </a:rPr>
              <a:t> </a:t>
            </a:r>
            <a:r>
              <a:rPr lang="fr-FR" sz="2200" dirty="0">
                <a:solidFill>
                  <a:prstClr val="black"/>
                </a:solidFill>
              </a:rPr>
              <a:t>(</a:t>
            </a:r>
            <a:r>
              <a:rPr lang="fr-FR" sz="2200" b="1" dirty="0">
                <a:solidFill>
                  <a:prstClr val="black"/>
                </a:solidFill>
              </a:rPr>
              <a:t>N-IDS</a:t>
            </a:r>
            <a:r>
              <a:rPr lang="fr-FR" sz="2200" dirty="0">
                <a:solidFill>
                  <a:prstClr val="black"/>
                </a:solidFill>
              </a:rPr>
              <a:t> + </a:t>
            </a:r>
            <a:r>
              <a:rPr lang="fr-FR" sz="2200" b="1" dirty="0">
                <a:solidFill>
                  <a:prstClr val="black"/>
                </a:solidFill>
              </a:rPr>
              <a:t>H-IDS</a:t>
            </a:r>
            <a:r>
              <a:rPr lang="fr-FR" sz="2200" dirty="0" smtClean="0">
                <a:solidFill>
                  <a:prstClr val="black"/>
                </a:solidFill>
              </a:rPr>
              <a:t>).</a:t>
            </a:r>
            <a:endParaRPr lang="fr-FR" sz="2200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307" y="744439"/>
            <a:ext cx="8789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srgbClr val="002060"/>
                </a:solidFill>
              </a:rPr>
              <a:t>Système de </a:t>
            </a:r>
            <a:r>
              <a:rPr lang="fr-FR" sz="2400" b="1" dirty="0" smtClean="0">
                <a:solidFill>
                  <a:srgbClr val="002060"/>
                </a:solidFill>
              </a:rPr>
              <a:t>Détection d‘Intrusion </a:t>
            </a:r>
            <a:r>
              <a:rPr lang="fr-FR" sz="2400" b="1" dirty="0">
                <a:solidFill>
                  <a:srgbClr val="002060"/>
                </a:solidFill>
              </a:rPr>
              <a:t>(IDS: Intrusion </a:t>
            </a:r>
            <a:r>
              <a:rPr lang="fr-FR" sz="2400" b="1" dirty="0" err="1">
                <a:solidFill>
                  <a:srgbClr val="002060"/>
                </a:solidFill>
              </a:rPr>
              <a:t>Detection</a:t>
            </a:r>
            <a:r>
              <a:rPr lang="fr-FR" sz="2400" b="1" dirty="0">
                <a:solidFill>
                  <a:srgbClr val="002060"/>
                </a:solidFill>
              </a:rPr>
              <a:t> System) 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40153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111" y="162819"/>
            <a:ext cx="63473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3600" b="1" dirty="0">
                <a:latin typeface="Calibri Light" panose="020F0302020204030204" pitchFamily="34" charset="0"/>
              </a:rPr>
              <a:t>Systèmes de détection d’intrusion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6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2079" y="1656456"/>
            <a:ext cx="10962611" cy="1503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b="1" dirty="0" smtClean="0">
                <a:solidFill>
                  <a:prstClr val="black"/>
                </a:solidFill>
              </a:rPr>
              <a:t>IDS </a:t>
            </a:r>
            <a:r>
              <a:rPr lang="fr-FR" sz="2200" b="1" dirty="0">
                <a:solidFill>
                  <a:prstClr val="black"/>
                </a:solidFill>
              </a:rPr>
              <a:t>actif</a:t>
            </a:r>
            <a:r>
              <a:rPr lang="fr-FR" sz="2200" dirty="0">
                <a:solidFill>
                  <a:prstClr val="black"/>
                </a:solidFill>
              </a:rPr>
              <a:t>: </a:t>
            </a:r>
            <a:r>
              <a:rPr lang="fr-FR" sz="2200" dirty="0" smtClean="0">
                <a:solidFill>
                  <a:prstClr val="black"/>
                </a:solidFill>
              </a:rPr>
              <a:t>possède </a:t>
            </a:r>
            <a:r>
              <a:rPr lang="fr-FR" sz="2200" dirty="0">
                <a:solidFill>
                  <a:prstClr val="black"/>
                </a:solidFill>
              </a:rPr>
              <a:t>toutes les fonctionnalités d'un IDS et peut également tenter d'</a:t>
            </a:r>
            <a:r>
              <a:rPr lang="fr-FR" sz="2200" b="1" dirty="0">
                <a:solidFill>
                  <a:prstClr val="black"/>
                </a:solidFill>
              </a:rPr>
              <a:t>arrêter</a:t>
            </a:r>
            <a:r>
              <a:rPr lang="fr-FR" sz="2200" dirty="0">
                <a:solidFill>
                  <a:prstClr val="black"/>
                </a:solidFill>
              </a:rPr>
              <a:t> des incidents éventuels.</a:t>
            </a:r>
          </a:p>
          <a:p>
            <a:pPr marL="342900" lvl="0" indent="-342900" algn="just" fontAlgn="base">
              <a:lnSpc>
                <a:spcPct val="90000"/>
              </a:lnSpc>
              <a:spcBef>
                <a:spcPts val="1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q"/>
            </a:pPr>
            <a:r>
              <a:rPr lang="fr-FR" sz="2200" dirty="0">
                <a:solidFill>
                  <a:prstClr val="black"/>
                </a:solidFill>
              </a:rPr>
              <a:t>Les </a:t>
            </a:r>
            <a:r>
              <a:rPr lang="fr-FR" sz="2200" b="1" dirty="0">
                <a:solidFill>
                  <a:prstClr val="black"/>
                </a:solidFill>
              </a:rPr>
              <a:t>IPS</a:t>
            </a:r>
            <a:r>
              <a:rPr lang="fr-FR" sz="2200" dirty="0">
                <a:solidFill>
                  <a:prstClr val="black"/>
                </a:solidFill>
              </a:rPr>
              <a:t> analysent également les paquets, mais ils peuvent aussi les </a:t>
            </a:r>
            <a:r>
              <a:rPr lang="fr-FR" sz="2200" b="1" dirty="0">
                <a:solidFill>
                  <a:prstClr val="black"/>
                </a:solidFill>
              </a:rPr>
              <a:t>bloquer</a:t>
            </a:r>
            <a:r>
              <a:rPr lang="fr-FR" sz="2200" dirty="0">
                <a:solidFill>
                  <a:prstClr val="black"/>
                </a:solidFill>
              </a:rPr>
              <a:t> en fonction du type d’attaques qu’ils détectent, ce qui contribue à </a:t>
            </a:r>
            <a:r>
              <a:rPr lang="fr-FR" sz="2200" b="1" dirty="0">
                <a:solidFill>
                  <a:prstClr val="black"/>
                </a:solidFill>
              </a:rPr>
              <a:t>stopper ces attaques</a:t>
            </a:r>
            <a:r>
              <a:rPr lang="fr-FR" sz="2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307" y="744439"/>
            <a:ext cx="93797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srgbClr val="002060"/>
                </a:solidFill>
              </a:rPr>
              <a:t>Système de </a:t>
            </a:r>
            <a:r>
              <a:rPr lang="fr-FR" sz="2400" b="1" dirty="0" smtClean="0">
                <a:solidFill>
                  <a:srgbClr val="002060"/>
                </a:solidFill>
              </a:rPr>
              <a:t>Prévention d’Intrusions </a:t>
            </a:r>
            <a:r>
              <a:rPr lang="fr-FR" sz="2400" b="1" dirty="0">
                <a:solidFill>
                  <a:srgbClr val="002060"/>
                </a:solidFill>
              </a:rPr>
              <a:t>(IPS: </a:t>
            </a:r>
            <a:r>
              <a:rPr lang="fr-FR" sz="2400" b="1" dirty="0" smtClean="0">
                <a:solidFill>
                  <a:srgbClr val="002060"/>
                </a:solidFill>
              </a:rPr>
              <a:t>Intrusion </a:t>
            </a:r>
            <a:r>
              <a:rPr lang="fr-FR" sz="2400" b="1" dirty="0" err="1">
                <a:solidFill>
                  <a:srgbClr val="002060"/>
                </a:solidFill>
              </a:rPr>
              <a:t>Prevention</a:t>
            </a:r>
            <a:r>
              <a:rPr lang="fr-FR" sz="2400" b="1" dirty="0">
                <a:solidFill>
                  <a:srgbClr val="002060"/>
                </a:solidFill>
              </a:rPr>
              <a:t> </a:t>
            </a:r>
            <a:r>
              <a:rPr lang="fr-FR" sz="2400" b="1" dirty="0" smtClean="0">
                <a:solidFill>
                  <a:srgbClr val="002060"/>
                </a:solidFill>
              </a:rPr>
              <a:t>System)</a:t>
            </a:r>
            <a:endParaRPr lang="fr-FR" sz="2400" b="1" dirty="0">
              <a:solidFill>
                <a:srgbClr val="00206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9065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7</a:t>
            </a:fld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83127"/>
            <a:ext cx="6539345" cy="672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3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8</a:t>
            </a:fld>
            <a:endParaRPr lang="fr-FR" dirty="0"/>
          </a:p>
        </p:txBody>
      </p:sp>
      <p:grpSp>
        <p:nvGrpSpPr>
          <p:cNvPr id="25" name="Groupe 24"/>
          <p:cNvGrpSpPr/>
          <p:nvPr/>
        </p:nvGrpSpPr>
        <p:grpSpPr>
          <a:xfrm>
            <a:off x="1363023" y="471712"/>
            <a:ext cx="8980344" cy="5518492"/>
            <a:chOff x="1363023" y="471712"/>
            <a:chExt cx="8980344" cy="5518492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3023" y="471712"/>
              <a:ext cx="8980344" cy="4750001"/>
            </a:xfrm>
            <a:prstGeom prst="rect">
              <a:avLst/>
            </a:prstGeom>
          </p:spPr>
        </p:pic>
        <p:sp>
          <p:nvSpPr>
            <p:cNvPr id="5" name="ZoneTexte 4"/>
            <p:cNvSpPr txBox="1"/>
            <p:nvPr/>
          </p:nvSpPr>
          <p:spPr>
            <a:xfrm>
              <a:off x="5348187" y="5590094"/>
              <a:ext cx="3094505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rgbClr val="FF0000"/>
                  </a:solidFill>
                </a:rPr>
                <a:t>I</a:t>
              </a:r>
              <a:r>
                <a:rPr lang="fr-FR" sz="2000" b="1" dirty="0" err="1" smtClean="0">
                  <a:solidFill>
                    <a:srgbClr val="FF0000"/>
                  </a:solidFill>
                </a:rPr>
                <a:t>mprove</a:t>
              </a:r>
              <a:r>
                <a:rPr lang="fr-FR" sz="2000" b="1" dirty="0" smtClean="0">
                  <a:solidFill>
                    <a:srgbClr val="FF0000"/>
                  </a:solidFill>
                </a:rPr>
                <a:t> </a:t>
              </a:r>
              <a:r>
                <a:rPr lang="fr-FR" sz="2000" b="1" dirty="0">
                  <a:solidFill>
                    <a:srgbClr val="FF0000"/>
                  </a:solidFill>
                </a:rPr>
                <a:t>IDS </a:t>
              </a:r>
              <a:r>
                <a:rPr lang="fr-FR" sz="2000" b="1" dirty="0" smtClean="0">
                  <a:solidFill>
                    <a:srgbClr val="FF0000"/>
                  </a:solidFill>
                </a:rPr>
                <a:t>performance</a:t>
              </a:r>
              <a:endParaRPr lang="fr-FR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Connecteur droit avec flèche 14"/>
            <p:cNvCxnSpPr>
              <a:endCxn id="5" idx="0"/>
            </p:cNvCxnSpPr>
            <p:nvPr/>
          </p:nvCxnSpPr>
          <p:spPr>
            <a:xfrm>
              <a:off x="6890987" y="5221713"/>
              <a:ext cx="4453" cy="368381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Image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3632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9</a:t>
            </a:fld>
            <a:endParaRPr lang="fr-FR" dirty="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16" y="0"/>
            <a:ext cx="8059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0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10</a:t>
            </a:fld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3" y="885374"/>
            <a:ext cx="10735812" cy="508249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45016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11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err="1" smtClean="0">
                <a:solidFill>
                  <a:srgbClr val="002060"/>
                </a:solidFill>
              </a:rPr>
              <a:t>Datasets</a:t>
            </a:r>
            <a:endParaRPr lang="fr-FR" sz="3600" b="1" dirty="0">
              <a:solidFill>
                <a:srgbClr val="00206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644593"/>
            <a:ext cx="4800600" cy="4838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1" y="5452765"/>
            <a:ext cx="106486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Ahmad Z, </a:t>
            </a:r>
            <a:r>
              <a:rPr lang="fr-FR" dirty="0" err="1"/>
              <a:t>Shahid</a:t>
            </a:r>
            <a:r>
              <a:rPr lang="fr-FR" dirty="0"/>
              <a:t> Khan A, Wai </a:t>
            </a:r>
            <a:r>
              <a:rPr lang="fr-FR" dirty="0" err="1"/>
              <a:t>Shiang</a:t>
            </a:r>
            <a:r>
              <a:rPr lang="fr-FR" dirty="0"/>
              <a:t> C, Abdullah J, Ahmad F. Network intrusion </a:t>
            </a:r>
            <a:r>
              <a:rPr lang="fr-FR" dirty="0" err="1"/>
              <a:t>detection</a:t>
            </a:r>
            <a:r>
              <a:rPr lang="fr-FR" dirty="0"/>
              <a:t> system: A </a:t>
            </a:r>
            <a:r>
              <a:rPr lang="fr-FR" dirty="0" err="1"/>
              <a:t>systematic</a:t>
            </a:r>
            <a:r>
              <a:rPr lang="fr-FR" dirty="0"/>
              <a:t> </a:t>
            </a:r>
            <a:r>
              <a:rPr lang="fr-FR" dirty="0" err="1"/>
              <a:t>study</a:t>
            </a:r>
            <a:r>
              <a:rPr lang="fr-FR" dirty="0"/>
              <a:t> of machine </a:t>
            </a:r>
            <a:r>
              <a:rPr lang="fr-FR" dirty="0" err="1"/>
              <a:t>learning</a:t>
            </a:r>
            <a:r>
              <a:rPr lang="fr-FR" dirty="0"/>
              <a:t> and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approaches</a:t>
            </a:r>
            <a:r>
              <a:rPr lang="fr-FR" dirty="0"/>
              <a:t>. </a:t>
            </a:r>
            <a:r>
              <a:rPr lang="fr-FR" i="1" dirty="0"/>
              <a:t>Trans </a:t>
            </a:r>
            <a:r>
              <a:rPr lang="fr-FR" i="1" dirty="0" err="1"/>
              <a:t>Emerging</a:t>
            </a:r>
            <a:r>
              <a:rPr lang="fr-FR" i="1" dirty="0"/>
              <a:t> Tel Tech</a:t>
            </a:r>
            <a:r>
              <a:rPr lang="fr-FR" dirty="0"/>
              <a:t>. 2021; 32:e4150. </a:t>
            </a:r>
            <a:r>
              <a:rPr lang="fr-FR" dirty="0">
                <a:hlinkClick r:id="rId4"/>
              </a:rPr>
              <a:t>https://doi.org/10.1002/ett.4150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0269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12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err="1" smtClean="0">
                <a:solidFill>
                  <a:srgbClr val="002060"/>
                </a:solidFill>
              </a:rPr>
              <a:t>Datasets</a:t>
            </a:r>
            <a:endParaRPr lang="fr-FR" sz="36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1" y="5632876"/>
            <a:ext cx="106486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Ming-</a:t>
            </a:r>
            <a:r>
              <a:rPr lang="fr-FR" dirty="0" err="1"/>
              <a:t>Tsung</a:t>
            </a:r>
            <a:r>
              <a:rPr lang="fr-FR" dirty="0"/>
              <a:t> Kao, </a:t>
            </a:r>
            <a:r>
              <a:rPr lang="fr-FR" dirty="0" err="1"/>
              <a:t>Dian-Ye</a:t>
            </a:r>
            <a:r>
              <a:rPr lang="fr-FR" dirty="0"/>
              <a:t> Sung, Shang-</a:t>
            </a:r>
            <a:r>
              <a:rPr lang="fr-FR" dirty="0" err="1"/>
              <a:t>Juh</a:t>
            </a:r>
            <a:r>
              <a:rPr lang="fr-FR" dirty="0"/>
              <a:t> Kao, and Fu-Min Chang. </a:t>
            </a:r>
            <a:r>
              <a:rPr lang="fr-FR" dirty="0" smtClean="0"/>
              <a:t>A </a:t>
            </a:r>
            <a:r>
              <a:rPr lang="fr-FR" dirty="0" err="1" smtClean="0"/>
              <a:t>novel</a:t>
            </a:r>
            <a:r>
              <a:rPr lang="fr-FR" dirty="0" smtClean="0"/>
              <a:t> </a:t>
            </a:r>
            <a:r>
              <a:rPr lang="fr-FR" dirty="0" err="1"/>
              <a:t>two</a:t>
            </a:r>
            <a:r>
              <a:rPr lang="fr-FR" dirty="0"/>
              <a:t>-stage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structure </a:t>
            </a:r>
            <a:r>
              <a:rPr lang="fr-FR" dirty="0" smtClean="0"/>
              <a:t>for network </a:t>
            </a:r>
            <a:r>
              <a:rPr lang="fr-FR" dirty="0"/>
              <a:t>flow </a:t>
            </a:r>
            <a:r>
              <a:rPr lang="fr-FR" dirty="0" err="1"/>
              <a:t>anomaly</a:t>
            </a:r>
            <a:r>
              <a:rPr lang="fr-FR" dirty="0"/>
              <a:t> </a:t>
            </a:r>
            <a:r>
              <a:rPr lang="fr-FR" dirty="0" err="1" smtClean="0"/>
              <a:t>detection</a:t>
            </a:r>
            <a:r>
              <a:rPr lang="fr-FR" dirty="0" smtClean="0"/>
              <a:t>. Electronics</a:t>
            </a:r>
            <a:r>
              <a:rPr lang="fr-FR" dirty="0"/>
              <a:t>, 11(10) :1531, 2022.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97" y="672303"/>
            <a:ext cx="7118805" cy="490515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349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13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smtClean="0">
                <a:solidFill>
                  <a:srgbClr val="002060"/>
                </a:solidFill>
              </a:rPr>
              <a:t>NSL-KDD</a:t>
            </a:r>
            <a:endParaRPr lang="fr-FR" sz="36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425440"/>
              </p:ext>
            </p:extLst>
          </p:nvPr>
        </p:nvGraphicFramePr>
        <p:xfrm>
          <a:off x="1787239" y="1339675"/>
          <a:ext cx="8636002" cy="435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670">
                  <a:extLst>
                    <a:ext uri="{9D8B030D-6E8A-4147-A177-3AD203B41FA5}">
                      <a16:colId xmlns:a16="http://schemas.microsoft.com/office/drawing/2014/main" val="1198079127"/>
                    </a:ext>
                  </a:extLst>
                </a:gridCol>
                <a:gridCol w="1523569">
                  <a:extLst>
                    <a:ext uri="{9D8B030D-6E8A-4147-A177-3AD203B41FA5}">
                      <a16:colId xmlns:a16="http://schemas.microsoft.com/office/drawing/2014/main" val="286537434"/>
                    </a:ext>
                  </a:extLst>
                </a:gridCol>
                <a:gridCol w="3842763">
                  <a:extLst>
                    <a:ext uri="{9D8B030D-6E8A-4147-A177-3AD203B41FA5}">
                      <a16:colId xmlns:a16="http://schemas.microsoft.com/office/drawing/2014/main" val="3214206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000" b="1" dirty="0" smtClean="0"/>
                        <a:t>Name</a:t>
                      </a:r>
                      <a:endParaRPr lang="fr-FR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2000" dirty="0" smtClean="0"/>
                        <a:t>NSL-KDD</a:t>
                      </a:r>
                      <a:endParaRPr lang="fr-FR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501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err="1" smtClean="0"/>
                        <a:t>Owner</a:t>
                      </a:r>
                      <a:endParaRPr lang="fr-FR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2000" b="0" dirty="0" smtClean="0"/>
                        <a:t>Canadian Institute for </a:t>
                      </a:r>
                      <a:r>
                        <a:rPr lang="fr-FR" sz="2000" b="0" dirty="0" err="1" smtClean="0"/>
                        <a:t>Cybersecurity</a:t>
                      </a:r>
                      <a:endParaRPr lang="fr-FR" sz="20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7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err="1" smtClean="0"/>
                        <a:t>Year</a:t>
                      </a:r>
                      <a:endParaRPr lang="fr-FR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2000" dirty="0" smtClean="0"/>
                        <a:t>2009</a:t>
                      </a:r>
                      <a:endParaRPr lang="fr-FR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1718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fr-FR" sz="2000" b="1" dirty="0" err="1" smtClean="0"/>
                        <a:t>Number</a:t>
                      </a:r>
                      <a:r>
                        <a:rPr lang="fr-FR" sz="2000" b="1" dirty="0" smtClean="0"/>
                        <a:t> of </a:t>
                      </a:r>
                      <a:r>
                        <a:rPr lang="fr-FR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instances records</a:t>
                      </a:r>
                      <a:endParaRPr lang="fr-F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Train set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125,973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900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Test set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22,544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844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Total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148,517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826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err="1" smtClean="0"/>
                        <a:t>Number</a:t>
                      </a:r>
                      <a:r>
                        <a:rPr lang="fr-FR" sz="2000" b="1" baseline="0" dirty="0" smtClean="0"/>
                        <a:t> of </a:t>
                      </a:r>
                      <a:r>
                        <a:rPr lang="fr-FR" sz="2000" b="1" baseline="0" dirty="0" err="1" smtClean="0"/>
                        <a:t>features</a:t>
                      </a:r>
                      <a:endParaRPr lang="fr-FR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2000" dirty="0" smtClean="0"/>
                        <a:t>41</a:t>
                      </a:r>
                      <a:r>
                        <a:rPr lang="fr-FR" sz="2000" baseline="0" dirty="0" smtClean="0"/>
                        <a:t> + class</a:t>
                      </a:r>
                      <a:endParaRPr lang="fr-FR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90078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fr-FR" sz="2000" b="1" dirty="0" err="1" smtClean="0"/>
                        <a:t>Number</a:t>
                      </a:r>
                      <a:r>
                        <a:rPr lang="fr-FR" sz="2000" b="1" baseline="0" dirty="0" smtClean="0"/>
                        <a:t> of classes</a:t>
                      </a:r>
                      <a:endParaRPr lang="fr-F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Train</a:t>
                      </a:r>
                      <a:r>
                        <a:rPr lang="fr-FR" sz="2000" baseline="0" dirty="0" smtClean="0"/>
                        <a:t> set</a:t>
                      </a:r>
                      <a:endParaRPr lang="fr-FR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22 (</a:t>
                      </a:r>
                      <a:r>
                        <a:rPr lang="fr-FR" sz="2000" dirty="0" err="1" smtClean="0"/>
                        <a:t>attack</a:t>
                      </a:r>
                      <a:r>
                        <a:rPr lang="fr-FR" sz="2000" dirty="0" smtClean="0"/>
                        <a:t>) + 1 (normal)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0100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</a:t>
                      </a:r>
                      <a:r>
                        <a:rPr lang="fr-FR" sz="2000" dirty="0" smtClean="0"/>
                        <a:t>(</a:t>
                      </a:r>
                      <a:r>
                        <a:rPr lang="fr-FR" sz="2000" dirty="0" err="1" smtClean="0"/>
                        <a:t>attack</a:t>
                      </a:r>
                      <a:r>
                        <a:rPr lang="fr-FR" sz="2000" dirty="0" smtClean="0"/>
                        <a:t>) +1 (normal)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15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39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135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smtClean="0"/>
                        <a:t>URL</a:t>
                      </a:r>
                      <a:endParaRPr lang="fr-FR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2000" dirty="0" smtClean="0">
                          <a:hlinkClick r:id="rId3"/>
                        </a:rPr>
                        <a:t>https://www.unb.ca/cic/datasets/nsl.html</a:t>
                      </a:r>
                      <a:endParaRPr lang="fr-FR" sz="20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11614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5137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14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smtClean="0">
                <a:solidFill>
                  <a:srgbClr val="002060"/>
                </a:solidFill>
              </a:rPr>
              <a:t>NSL-KDD</a:t>
            </a:r>
            <a:endParaRPr lang="fr-FR" sz="3600" b="1" dirty="0">
              <a:solidFill>
                <a:srgbClr val="00206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054" y="713867"/>
            <a:ext cx="6970036" cy="551674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35412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15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smtClean="0">
                <a:solidFill>
                  <a:srgbClr val="002060"/>
                </a:solidFill>
              </a:rPr>
              <a:t>NSL-KDD</a:t>
            </a:r>
            <a:endParaRPr lang="fr-FR" sz="3600" b="1" dirty="0">
              <a:solidFill>
                <a:srgbClr val="00206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218" y="747592"/>
            <a:ext cx="8281439" cy="550081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9448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0787151" y="6459785"/>
            <a:ext cx="1312025" cy="365125"/>
          </a:xfrm>
        </p:spPr>
        <p:txBody>
          <a:bodyPr/>
          <a:lstStyle/>
          <a:p>
            <a:fld id="{6E617F4D-DE86-4DB3-A8A1-FC7B0FF7F8A2}" type="slidenum">
              <a:rPr lang="fr-FR" smtClean="0"/>
              <a:t>16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8000" y="81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600" b="1" dirty="0" smtClean="0">
                <a:solidFill>
                  <a:srgbClr val="002060"/>
                </a:solidFill>
              </a:rPr>
              <a:t>NSL-KDD</a:t>
            </a:r>
            <a:endParaRPr lang="fr-FR" sz="3600" b="1" dirty="0">
              <a:solidFill>
                <a:srgbClr val="00206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94" y="729033"/>
            <a:ext cx="8309516" cy="551937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524" y="6151418"/>
            <a:ext cx="744362" cy="59574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036617" y="6435433"/>
            <a:ext cx="138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</a:rPr>
              <a:t>Dr. KHALDI .M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0293" y="6405537"/>
            <a:ext cx="4670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Détection des Intrusions à base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26209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29659</TotalTime>
  <Words>1006</Words>
  <Application>Microsoft Office PowerPoint</Application>
  <PresentationFormat>Grand écran</PresentationFormat>
  <Paragraphs>145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Times New Roman</vt:lpstr>
      <vt:lpstr>Wingdings</vt:lpstr>
      <vt:lpstr>Rétrospective</vt:lpstr>
      <vt:lpstr>Détection des Intrusions à base de Machine Learning</vt:lpstr>
      <vt:lpstr>Mots-clés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KHALDI</dc:creator>
  <cp:lastModifiedBy>KHALDI</cp:lastModifiedBy>
  <cp:revision>1067</cp:revision>
  <dcterms:created xsi:type="dcterms:W3CDTF">2022-02-15T16:50:48Z</dcterms:created>
  <dcterms:modified xsi:type="dcterms:W3CDTF">2025-04-17T11:50:46Z</dcterms:modified>
</cp:coreProperties>
</file>